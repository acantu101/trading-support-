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85832" y="10972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onsolas"/>
              </a:rPr>
              <a:t>SUPPORT &amp; INCIDENTS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109728"/>
            <a:ext cx="98115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Trebuchet MS"/>
              </a:rPr>
              <a:t>Severity Levels &amp; First-5-Minutes Triage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1042415"/>
            <a:ext cx="11786616" cy="254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" y="1133856"/>
            <a:ext cx="5847588" cy="5614416"/>
          </a:xfrm>
          <a:prstGeom prst="rect">
            <a:avLst/>
          </a:prstGeom>
          <a:solidFill>
            <a:srgbClr val="222238"/>
          </a:solidFill>
          <a:ln>
            <a:solidFill>
              <a:srgbClr val="2E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9184" y="1243584"/>
            <a:ext cx="55915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6B1A"/>
                </a:solidFill>
                <a:latin typeface="Consolas"/>
              </a:rPr>
              <a:t>SEVERITY MATRIX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" y="1517904"/>
            <a:ext cx="5591556" cy="5138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AF6"/>
                </a:solidFill>
                <a:latin typeface="Calibri"/>
              </a:rPr>
              <a:t>Sev Definition Response Update cadence P1 Trading halted, orders not routing, data feed fully down Immediate; page on-call lead Every 10 min P2 Degraded — one symbol/venue affected, elevated latency, partial gaps Within 30 min Every 30 min P3 Non-critical feature broken, monitoring gap, manual workaround available Business hours Daily P4 Cosmetic, question, doc gap Next sprint On resolution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6140196" y="1133856"/>
            <a:ext cx="5847588" cy="5614416"/>
          </a:xfrm>
          <a:prstGeom prst="rect">
            <a:avLst/>
          </a:prstGeom>
          <a:solidFill>
            <a:srgbClr val="222238"/>
          </a:solidFill>
          <a:ln>
            <a:solidFill>
              <a:srgbClr val="2E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8212" y="1243584"/>
            <a:ext cx="55915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6B1A"/>
                </a:solidFill>
                <a:latin typeface="Consolas"/>
              </a:rPr>
              <a:t>FIRST 5 MINUTES CHECKLIST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8212" y="1517904"/>
            <a:ext cx="5591556" cy="5138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✅ Acknowledge the alert — claim ownership so no one duplicates work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✅ Assess blast radius — how many systems/users affected?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✅ Check recent changes — deployments, config pushes, cron jobs in last 2h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✅ Open an incident channel — #incident-YYYYMMDD in Slack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✅ Start a timeline doc — every action timestamped, even dead ends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✅ Notify stakeholders — trading desk lead, on-call manager if P1/P2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85832" y="10972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onsolas"/>
              </a:rPr>
              <a:t>SUPPORT &amp; INCIDENTS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109728"/>
            <a:ext cx="98115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Trebuchet MS"/>
              </a:rPr>
              <a:t>Incident Lifecycle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1042415"/>
            <a:ext cx="11786616" cy="254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" y="1133856"/>
            <a:ext cx="11786616" cy="5614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AF6"/>
                </a:solidFill>
                <a:latin typeface="Calibri"/>
              </a:rPr>
              <a:t>🔔 Detection → ✋ Acknowledge → 🔍 Diagnose → 🛡️ Mitigate → ✅ Resolve → 📝 Postmortem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168" y="1133856"/>
            <a:ext cx="5847588" cy="5614416"/>
          </a:xfrm>
          <a:prstGeom prst="rect">
            <a:avLst/>
          </a:prstGeom>
          <a:solidFill>
            <a:srgbClr val="222238"/>
          </a:solidFill>
          <a:ln>
            <a:solidFill>
              <a:srgbClr val="2E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4" y="1243584"/>
            <a:ext cx="55915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6B1A"/>
                </a:solidFill>
                <a:latin typeface="Consolas"/>
              </a:rPr>
              <a:t>MITIGATION VS RESOLUTION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" y="1517904"/>
            <a:ext cx="5591556" cy="5138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Mitigation — stops the bleeding; system functional again. May be a workaround (restart, rollback, redirect traffic).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Resolution — root cause fixed; no workaround needed. May come days later.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Close the incident on mitigation , not resolution — trading can resume. Track the root-cause fix as a separate ticket.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40196" y="1133856"/>
            <a:ext cx="5847588" cy="5614416"/>
          </a:xfrm>
          <a:prstGeom prst="rect">
            <a:avLst/>
          </a:prstGeom>
          <a:solidFill>
            <a:srgbClr val="222238"/>
          </a:solidFill>
          <a:ln>
            <a:solidFill>
              <a:srgbClr val="2E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8212" y="1243584"/>
            <a:ext cx="55915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6B1A"/>
                </a:solidFill>
                <a:latin typeface="Consolas"/>
              </a:rPr>
              <a:t>ROLES IN A P1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8212" y="1517904"/>
            <a:ext cx="5591556" cy="5138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Incident Commander (IC) — owns the bridge; delegates; makes go/no-go calls. Not debugging — managing.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Tech Lead — does the hands-on diagnosis and fix. Reports findings to IC.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Comms Lead — writes status updates; keeps stakeholders informed so IC/Tech Lead aren't interrupted.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Scribe — timestamps every action in the doc. Often the IC in smaller teams.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85832" y="10972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onsolas"/>
              </a:rPr>
              <a:t>SUPPORT &amp; INCIDENTS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109728"/>
            <a:ext cx="98115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Trebuchet MS"/>
              </a:rPr>
              <a:t>Trading-Specific Triage Patterns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1042415"/>
            <a:ext cx="11786616" cy="254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" y="1133856"/>
            <a:ext cx="5847588" cy="5614416"/>
          </a:xfrm>
          <a:prstGeom prst="rect">
            <a:avLst/>
          </a:prstGeom>
          <a:solidFill>
            <a:srgbClr val="222238"/>
          </a:solidFill>
          <a:ln>
            <a:solidFill>
              <a:srgbClr val="2E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9184" y="1243584"/>
            <a:ext cx="55915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6B1A"/>
                </a:solidFill>
                <a:latin typeface="Consolas"/>
              </a:rPr>
              <a:t>FEED GAP / DATA MISSING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" y="1517904"/>
            <a:ext cx="5591556" cy="5138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AF6"/>
                </a:solidFill>
                <a:latin typeface="Calibri"/>
              </a:rPr>
              <a:t>Check feed handler logs for sequence gap messages Is it one symbol or all? → symbol = upstream issue; all = connectivity/process Is A feed or B feed also gapped? → both = upstream or NIC; one = network path Check Kafka consumer lag — is data in Kafka but not consumed? Check HDF5 file shape vs expected row count for the day During market hours, a data gap is a P1 until proven otherwise. Researchers and algos may be making decisions on stale data right now.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40196" y="1133856"/>
            <a:ext cx="5847588" cy="5614416"/>
          </a:xfrm>
          <a:prstGeom prst="rect">
            <a:avLst/>
          </a:prstGeom>
          <a:solidFill>
            <a:srgbClr val="222238"/>
          </a:solidFill>
          <a:ln>
            <a:solidFill>
              <a:srgbClr val="2E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8212" y="1243584"/>
            <a:ext cx="55915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6B1A"/>
                </a:solidFill>
                <a:latin typeface="Consolas"/>
              </a:rPr>
              <a:t>ORDER NOT REACHING EXCHANGE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8212" y="1517904"/>
            <a:ext cx="5591556" cy="5138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AF6"/>
                </a:solidFill>
                <a:latin typeface="Calibri"/>
              </a:rPr>
              <a:t>Check FIX session state — is it logged on? ( 35=A in logs) Check Execution Report ( 35=8 ) for reject reason ( tag 103 ) Check OUCH Rejected message — RejectReason byte tells you exactly why Check sequence numbers — gap = session will reject until reset Check port/network connectivity to exchange gateway Elevated Latency kubectl top pod — CPU/memory pressure? ss -s — socket buffer overflow? TIME_WAIT pile-up? GC pause? Check JVM logs if Java-based components involved Noisy neighbor? Check node-level CPU steal with top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85832" y="10972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onsolas"/>
              </a:rPr>
              <a:t>SUPPORT &amp; INCIDENTS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109728"/>
            <a:ext cx="98115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Trebuchet MS"/>
              </a:rPr>
              <a:t>Incident Communication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731520"/>
            <a:ext cx="98115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6B1A"/>
                </a:solidFill>
                <a:latin typeface="Calibri"/>
              </a:rPr>
              <a:t>"I have a P1. [System] is [symptom] since [time]. I've ruled out [X] and [Y]. I need help with [specific thing]. Can you join the bridge?"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1042415"/>
            <a:ext cx="11786616" cy="254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1168" y="1133856"/>
            <a:ext cx="5847588" cy="5614416"/>
          </a:xfrm>
          <a:prstGeom prst="rect">
            <a:avLst/>
          </a:prstGeom>
          <a:solidFill>
            <a:srgbClr val="222238"/>
          </a:solidFill>
          <a:ln>
            <a:solidFill>
              <a:srgbClr val="2E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4" y="1243584"/>
            <a:ext cx="55915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6B1A"/>
                </a:solidFill>
                <a:latin typeface="Consolas"/>
              </a:rPr>
              <a:t>STATUS UPDATE TEMPLATE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" y="1517904"/>
            <a:ext cx="5591556" cy="5138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AF6"/>
                </a:solidFill>
                <a:latin typeface="Calibri"/>
              </a:rPr>
              <a:t>🔴 [INCIDENT] Feed handler sequence gaps — YYYYMMDD HH:MM UTC
**Status:** Investigating
**Impact:** ITCH feed for AAPL/MSFT showing gaps since 09:32 ET. Researchers on affected symbols should treat data as incomplete.
**What we know:** Feed handler logs show seq gap at 09:31:57. A-feed and B-feed both affected. Last successful sequence: 1,482,331.
**Next update:** 10:15 ET or sooner if status changes.
**IC:** @yourname | **Bridge:** #incident-20240501 Every update follows the same structure: status, impact, what we know, next update time. Consistency lets readers skim fast.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40196" y="1133856"/>
            <a:ext cx="5847588" cy="5614416"/>
          </a:xfrm>
          <a:prstGeom prst="rect">
            <a:avLst/>
          </a:prstGeom>
          <a:solidFill>
            <a:srgbClr val="222238"/>
          </a:solidFill>
          <a:ln>
            <a:solidFill>
              <a:srgbClr val="2E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8212" y="1243584"/>
            <a:ext cx="55915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6B1A"/>
                </a:solidFill>
                <a:latin typeface="Consolas"/>
              </a:rPr>
              <a:t>ESCALATION LADDER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8212" y="1517904"/>
            <a:ext cx="5591556" cy="5138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Self-resolve (15 min) — you have a runbook, clear cause, known fix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Escalate to senior (30 min) — unclear root cause or fix requires access you don't have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Escalate to vendor (P1) — exchange connectivity, MSK broker failure, AWS service issue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Escalate to management — financial impact, regulatory implication, breach of SLA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85832" y="10972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onsolas"/>
              </a:rPr>
              <a:t>SUPPORT &amp; INCIDENTS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109728"/>
            <a:ext cx="98115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Trebuchet MS"/>
              </a:rPr>
              <a:t>Root Cause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1042415"/>
            <a:ext cx="11786616" cy="254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" y="1133856"/>
            <a:ext cx="5847588" cy="5614416"/>
          </a:xfrm>
          <a:prstGeom prst="rect">
            <a:avLst/>
          </a:prstGeom>
          <a:solidFill>
            <a:srgbClr val="222238"/>
          </a:solidFill>
          <a:ln>
            <a:solidFill>
              <a:srgbClr val="2E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9184" y="1243584"/>
            <a:ext cx="55915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6B1A"/>
                </a:solidFill>
                <a:latin typeface="Consolas"/>
              </a:rPr>
              <a:t>5 WHYS — WORK BACKWARD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" y="1517904"/>
            <a:ext cx="5591556" cy="5138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AF6"/>
                </a:solidFill>
                <a:latin typeface="Calibri"/>
              </a:rPr>
              <a:t>Problem: Researchers got stale data for 40 minutes Why 1: HDF5 writer pod was OOMKilled and restarted Why 2: Memory limit was 512Mi but dataset grew 3x this quarter Why 3: Resource limits were set at launch and never reviewed Why 4: No memory growth alerting was configured Root cause: No process for reviewing resource limits as workloads scale</a:t>
            </a:r>
          </a:p>
        </p:txBody>
      </p:sp>
      <p:sp>
        <p:nvSpPr>
          <p:cNvPr id="9" name="Rectangle 8"/>
          <p:cNvSpPr/>
          <p:nvPr/>
        </p:nvSpPr>
        <p:spPr>
          <a:xfrm>
            <a:off x="6140196" y="1133856"/>
            <a:ext cx="5847588" cy="5614416"/>
          </a:xfrm>
          <a:prstGeom prst="rect">
            <a:avLst/>
          </a:prstGeom>
          <a:solidFill>
            <a:srgbClr val="222238"/>
          </a:solidFill>
          <a:ln>
            <a:solidFill>
              <a:srgbClr val="2E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8212" y="1243584"/>
            <a:ext cx="55915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6B1A"/>
                </a:solidFill>
                <a:latin typeface="Consolas"/>
              </a:rPr>
              <a:t>TIMELINE RECONSTRUCTION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8212" y="1517904"/>
            <a:ext cx="5591556" cy="5138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Pull all relevant logs with a common time window (start 30 min before symptom)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Correlate: app logs + k8s events + monitoring alerts + deploy history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Find the earliest anomaly — that's your candidate root cause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85832" y="10972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onsolas"/>
              </a:rPr>
              <a:t>SUPPORT &amp; INCIDENTS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109728"/>
            <a:ext cx="98115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Trebuchet MS"/>
              </a:rPr>
              <a:t>Runbook Best Practices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1042415"/>
            <a:ext cx="11786616" cy="254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" y="1133856"/>
            <a:ext cx="5847588" cy="5614416"/>
          </a:xfrm>
          <a:prstGeom prst="rect">
            <a:avLst/>
          </a:prstGeom>
          <a:solidFill>
            <a:srgbClr val="222238"/>
          </a:solidFill>
          <a:ln>
            <a:solidFill>
              <a:srgbClr val="2E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9184" y="1243584"/>
            <a:ext cx="55915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6B1A"/>
                </a:solidFill>
                <a:latin typeface="Consolas"/>
              </a:rPr>
              <a:t>WHAT MAKES A GOOD RUNBOOK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" y="1517904"/>
            <a:ext cx="5591556" cy="5138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Written for 3am — assume the reader is tired, stressed, and unfamiliar with this system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Symptom-first — index by what alerts fire or what the user reports, not by system name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Copy-pasteable commands — no "run the usual check"; give the exact command with real variable names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Decision tree, not prose — "if X → go to step 4; if Y → go to step 7"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Escape hatch — always end with "if none of the above worked, escalate to [person/team]"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Dated — include last-verified date; stale runbooks are dangerous</a:t>
            </a:r>
          </a:p>
        </p:txBody>
      </p:sp>
      <p:sp>
        <p:nvSpPr>
          <p:cNvPr id="9" name="Rectangle 8"/>
          <p:cNvSpPr/>
          <p:nvPr/>
        </p:nvSpPr>
        <p:spPr>
          <a:xfrm>
            <a:off x="6140196" y="1133856"/>
            <a:ext cx="5847588" cy="5614416"/>
          </a:xfrm>
          <a:prstGeom prst="rect">
            <a:avLst/>
          </a:prstGeom>
          <a:solidFill>
            <a:srgbClr val="222238"/>
          </a:solidFill>
          <a:ln>
            <a:solidFill>
              <a:srgbClr val="2E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8212" y="1243584"/>
            <a:ext cx="55915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6B1A"/>
                </a:solidFill>
                <a:latin typeface="Consolas"/>
              </a:rPr>
              <a:t>RUNBOOK STRUCTURE TEMPLATE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8212" y="1517904"/>
            <a:ext cx="5591556" cy="5138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AF6"/>
                </a:solidFill>
                <a:latin typeface="Calibri"/>
              </a:rPr>
              <a:t># [Alert Name] Runbook
**Last verified:** YYYY-MM-DD
**Owner:** team-name
**Severity:** P1/P2/P3
## Symptoms
- Alert fires when: ...
- Users report: ...
## Immediate checks
1. `kubectl get pods -n trading | grep feed`
2. If CrashLoopBackOff → go to step 5
3. If Running → go to step 8
## Mitigation
`kubectl rollout restart deploy/feed-handler`
## Root cause investigation
...
## Escalation
If unresolved after 20 min → page @senior-oncall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85832" y="10972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onsolas"/>
              </a:rPr>
              <a:t>SUPPORT &amp; INCIDENTS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109728"/>
            <a:ext cx="98115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Trebuchet MS"/>
              </a:rPr>
              <a:t>Blameless Postmortem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1042415"/>
            <a:ext cx="11786616" cy="254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" y="1133856"/>
            <a:ext cx="5847588" cy="5614416"/>
          </a:xfrm>
          <a:prstGeom prst="rect">
            <a:avLst/>
          </a:prstGeom>
          <a:solidFill>
            <a:srgbClr val="222238"/>
          </a:solidFill>
          <a:ln>
            <a:solidFill>
              <a:srgbClr val="2E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9184" y="1243584"/>
            <a:ext cx="55915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6B1A"/>
                </a:solidFill>
                <a:latin typeface="Consolas"/>
              </a:rPr>
              <a:t>PRINCIPLES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" y="1517904"/>
            <a:ext cx="5591556" cy="5138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Blameless — people make reasonable decisions given the information they had. The system allowed the failure; fix the system.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Focus on contributing factors , not the person who "caused" it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Action items must be assigned and dated — unowned items never get done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Share widely — postmortems are a knowledge transfer mechanism, not a shame exercise</a:t>
            </a:r>
          </a:p>
        </p:txBody>
      </p:sp>
      <p:sp>
        <p:nvSpPr>
          <p:cNvPr id="9" name="Rectangle 8"/>
          <p:cNvSpPr/>
          <p:nvPr/>
        </p:nvSpPr>
        <p:spPr>
          <a:xfrm>
            <a:off x="6140196" y="1133856"/>
            <a:ext cx="5847588" cy="5614416"/>
          </a:xfrm>
          <a:prstGeom prst="rect">
            <a:avLst/>
          </a:prstGeom>
          <a:solidFill>
            <a:srgbClr val="222238"/>
          </a:solidFill>
          <a:ln>
            <a:solidFill>
              <a:srgbClr val="2E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8212" y="1243584"/>
            <a:ext cx="55915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6B1A"/>
                </a:solidFill>
                <a:latin typeface="Consolas"/>
              </a:rPr>
              <a:t>POSTMORTEM TEMPLATE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8212" y="1517904"/>
            <a:ext cx="5591556" cy="5138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AF6"/>
                </a:solidFill>
                <a:latin typeface="Calibri"/>
              </a:rPr>
              <a:t># Postmortem: [Title] — YYYY-MM-DD
**Duration:** HH:MM – HH:MM UTC (X min)
**Severity:** P1
**Impact:** [who/what was affected, quantified]
## Timeline
09:31 — First gap detected by monitor
09:33 — Alert fired, @oncall acknowledged
09:45 — Root cause identified (OOMKill)
09:52 — Memory limit raised, pod restarted
09:54 — Data flowing normally. Incident closed.
## Root cause
[One paragraph. What failed and why.]
## Contributing factors
- No memory growth alerting
- Resource limits never reviewed post-launch
## Action items
| Action | Owner | Due |
|--------|-------|-----|
| Add mem alert on tick-writer | @eng | 2024-05-10 |
| Quarterly resource limit review | @lead | 2024-06-01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